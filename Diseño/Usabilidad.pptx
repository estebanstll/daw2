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ompt Heavy" charset="1" panose="00000A00000000000000"/>
      <p:regular r:id="rId19"/>
    </p:embeddedFont>
    <p:embeddedFont>
      <p:font typeface="Prompt Medium" charset="1" panose="00000600000000000000"/>
      <p:regular r:id="rId20"/>
    </p:embeddedFont>
    <p:embeddedFont>
      <p:font typeface="Prompt Light" charset="1" panose="00000400000000000000"/>
      <p:regular r:id="rId21"/>
    </p:embeddedFont>
    <p:embeddedFont>
      <p:font typeface="Prompt Ultra-Bold" charset="1" panose="00000900000000000000"/>
      <p:regular r:id="rId22"/>
    </p:embeddedFont>
    <p:embeddedFont>
      <p:font typeface="Prompt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8059494"/>
            <a:ext cx="7315200" cy="744820"/>
          </a:xfrm>
          <a:custGeom>
            <a:avLst/>
            <a:gdLst/>
            <a:ahLst/>
            <a:cxnLst/>
            <a:rect r="r" b="b" t="t" l="l"/>
            <a:pathLst>
              <a:path h="744820" w="7315200">
                <a:moveTo>
                  <a:pt x="0" y="0"/>
                </a:moveTo>
                <a:lnTo>
                  <a:pt x="7315200" y="0"/>
                </a:lnTo>
                <a:lnTo>
                  <a:pt x="7315200" y="744820"/>
                </a:lnTo>
                <a:lnTo>
                  <a:pt x="0" y="744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5448" y="2448397"/>
            <a:ext cx="13477104" cy="446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84"/>
              </a:lnSpc>
            </a:pPr>
            <a:r>
              <a:rPr lang="en-US" b="true" sz="12845">
                <a:solidFill>
                  <a:srgbClr val="395BDB"/>
                </a:solidFill>
                <a:latin typeface="Prompt Heavy"/>
                <a:ea typeface="Prompt Heavy"/>
                <a:cs typeface="Prompt Heavy"/>
                <a:sym typeface="Prompt Heavy"/>
              </a:rPr>
              <a:t>PRINCIPIOS DEL DISEÑO WEB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8163" y="8007445"/>
            <a:ext cx="5035186" cy="74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8"/>
              </a:lnSpc>
            </a:pPr>
            <a:r>
              <a:rPr lang="en-US" b="true" sz="4370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Esteban Santolalla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38436" y="3833596"/>
            <a:ext cx="13430179" cy="207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2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Es la medida en la que una página navegar a los usuarios y completar las cosas que buscan con mayor claridad, facilidad y sin que los usuarios se frustren. No solo que sea fácil de usar sino que sea intuitiva y cumpla las expectativas de los usuarios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453911" y="7039008"/>
            <a:ext cx="5449155" cy="2219292"/>
          </a:xfrm>
          <a:custGeom>
            <a:avLst/>
            <a:gdLst/>
            <a:ahLst/>
            <a:cxnLst/>
            <a:rect r="r" b="b" t="t" l="l"/>
            <a:pathLst>
              <a:path h="2219292" w="5449155">
                <a:moveTo>
                  <a:pt x="0" y="0"/>
                </a:moveTo>
                <a:lnTo>
                  <a:pt x="5449155" y="0"/>
                </a:lnTo>
                <a:lnTo>
                  <a:pt x="5449155" y="2219292"/>
                </a:lnTo>
                <a:lnTo>
                  <a:pt x="0" y="2219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58332" y="2110672"/>
            <a:ext cx="5724220" cy="149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74"/>
              </a:lnSpc>
            </a:pPr>
            <a:r>
              <a:rPr lang="en-US" b="true" sz="8839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¿Qué es?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54676" y="2275137"/>
            <a:ext cx="2178649" cy="21786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28911" y="4660082"/>
            <a:ext cx="13430179" cy="356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58"/>
              </a:lnSpc>
              <a:spcBef>
                <a:spcPct val="0"/>
              </a:spcBef>
            </a:pPr>
            <a:r>
              <a:rPr lang="en-US" b="true" sz="10256" spc="584">
                <a:solidFill>
                  <a:srgbClr val="FFFFFF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ELEMENTOS DE LA USABILIDAD 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8876" y="2435845"/>
            <a:ext cx="2631198" cy="170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  <a:spcBef>
                <a:spcPct val="0"/>
              </a:spcBef>
            </a:pPr>
            <a:r>
              <a:rPr lang="en-US" b="true" sz="9974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2178489" y="4463066"/>
            <a:ext cx="5274754" cy="5447766"/>
            <a:chOff x="0" y="0"/>
            <a:chExt cx="6350000" cy="6558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6"/>
              <a:stretch>
                <a:fillRect l="-27567" t="0" r="-27567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D51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438436" y="3833596"/>
            <a:ext cx="8488727" cy="417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5"/>
              </a:lnSpc>
              <a:spcBef>
                <a:spcPct val="0"/>
              </a:spcBef>
            </a:pPr>
            <a:r>
              <a:rPr lang="en-US" sz="340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Consiste en anticiparse a los posibles errores que puedan cometer los usuarios a la hora de usar la aplicación, además de proporcionar algún tipo de ayuda al los usuarios ya sea visual (usando diferentes colores para indicar que algo esta bien o mal) o de sistema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4219" y="2060001"/>
            <a:ext cx="12686035" cy="149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4"/>
              </a:lnSpc>
            </a:pPr>
            <a:r>
              <a:rPr lang="en-US" sz="8839" b="true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Prevención de errores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65547" y="3312802"/>
            <a:ext cx="6187410" cy="7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b="true" sz="4310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Compatibilidad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71500" y="4398860"/>
            <a:ext cx="5588753" cy="3927988"/>
            <a:chOff x="0" y="0"/>
            <a:chExt cx="1471935" cy="103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935" cy="1034532"/>
            </a:xfrm>
            <a:custGeom>
              <a:avLst/>
              <a:gdLst/>
              <a:ahLst/>
              <a:cxnLst/>
              <a:rect r="r" b="b" t="t" l="l"/>
              <a:pathLst>
                <a:path h="1034532" w="1471935">
                  <a:moveTo>
                    <a:pt x="47099" y="0"/>
                  </a:moveTo>
                  <a:lnTo>
                    <a:pt x="1424836" y="0"/>
                  </a:lnTo>
                  <a:cubicBezTo>
                    <a:pt x="1437327" y="0"/>
                    <a:pt x="1449307" y="4962"/>
                    <a:pt x="1458140" y="13795"/>
                  </a:cubicBezTo>
                  <a:cubicBezTo>
                    <a:pt x="1466973" y="22628"/>
                    <a:pt x="1471935" y="34608"/>
                    <a:pt x="1471935" y="47099"/>
                  </a:cubicBezTo>
                  <a:lnTo>
                    <a:pt x="1471935" y="987433"/>
                  </a:lnTo>
                  <a:cubicBezTo>
                    <a:pt x="1471935" y="999924"/>
                    <a:pt x="1466973" y="1011904"/>
                    <a:pt x="1458140" y="1020737"/>
                  </a:cubicBezTo>
                  <a:cubicBezTo>
                    <a:pt x="1449307" y="1029570"/>
                    <a:pt x="1437327" y="1034532"/>
                    <a:pt x="1424836" y="1034532"/>
                  </a:cubicBezTo>
                  <a:lnTo>
                    <a:pt x="47099" y="1034532"/>
                  </a:lnTo>
                  <a:cubicBezTo>
                    <a:pt x="34608" y="1034532"/>
                    <a:pt x="22628" y="1029570"/>
                    <a:pt x="13795" y="1020737"/>
                  </a:cubicBezTo>
                  <a:cubicBezTo>
                    <a:pt x="4962" y="1011904"/>
                    <a:pt x="0" y="999924"/>
                    <a:pt x="0" y="987433"/>
                  </a:cubicBezTo>
                  <a:lnTo>
                    <a:pt x="0" y="47099"/>
                  </a:lnTo>
                  <a:cubicBezTo>
                    <a:pt x="0" y="34608"/>
                    <a:pt x="4962" y="22628"/>
                    <a:pt x="13795" y="13795"/>
                  </a:cubicBezTo>
                  <a:cubicBezTo>
                    <a:pt x="22628" y="4962"/>
                    <a:pt x="34608" y="0"/>
                    <a:pt x="47099" y="0"/>
                  </a:cubicBezTo>
                  <a:close/>
                </a:path>
              </a:pathLst>
            </a:custGeom>
            <a:solidFill>
              <a:srgbClr val="A8B8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71935" cy="1063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27747" y="4398860"/>
            <a:ext cx="5588753" cy="3927988"/>
            <a:chOff x="0" y="0"/>
            <a:chExt cx="1471935" cy="103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1935" cy="1034532"/>
            </a:xfrm>
            <a:custGeom>
              <a:avLst/>
              <a:gdLst/>
              <a:ahLst/>
              <a:cxnLst/>
              <a:rect r="r" b="b" t="t" l="l"/>
              <a:pathLst>
                <a:path h="1034532" w="1471935">
                  <a:moveTo>
                    <a:pt x="47099" y="0"/>
                  </a:moveTo>
                  <a:lnTo>
                    <a:pt x="1424836" y="0"/>
                  </a:lnTo>
                  <a:cubicBezTo>
                    <a:pt x="1437327" y="0"/>
                    <a:pt x="1449307" y="4962"/>
                    <a:pt x="1458140" y="13795"/>
                  </a:cubicBezTo>
                  <a:cubicBezTo>
                    <a:pt x="1466973" y="22628"/>
                    <a:pt x="1471935" y="34608"/>
                    <a:pt x="1471935" y="47099"/>
                  </a:cubicBezTo>
                  <a:lnTo>
                    <a:pt x="1471935" y="987433"/>
                  </a:lnTo>
                  <a:cubicBezTo>
                    <a:pt x="1471935" y="999924"/>
                    <a:pt x="1466973" y="1011904"/>
                    <a:pt x="1458140" y="1020737"/>
                  </a:cubicBezTo>
                  <a:cubicBezTo>
                    <a:pt x="1449307" y="1029570"/>
                    <a:pt x="1437327" y="1034532"/>
                    <a:pt x="1424836" y="1034532"/>
                  </a:cubicBezTo>
                  <a:lnTo>
                    <a:pt x="47099" y="1034532"/>
                  </a:lnTo>
                  <a:cubicBezTo>
                    <a:pt x="34608" y="1034532"/>
                    <a:pt x="22628" y="1029570"/>
                    <a:pt x="13795" y="1020737"/>
                  </a:cubicBezTo>
                  <a:cubicBezTo>
                    <a:pt x="4962" y="1011904"/>
                    <a:pt x="0" y="999924"/>
                    <a:pt x="0" y="987433"/>
                  </a:cubicBezTo>
                  <a:lnTo>
                    <a:pt x="0" y="47099"/>
                  </a:lnTo>
                  <a:cubicBezTo>
                    <a:pt x="0" y="34608"/>
                    <a:pt x="4962" y="22628"/>
                    <a:pt x="13795" y="13795"/>
                  </a:cubicBezTo>
                  <a:cubicBezTo>
                    <a:pt x="22628" y="4962"/>
                    <a:pt x="34608" y="0"/>
                    <a:pt x="47099" y="0"/>
                  </a:cubicBezTo>
                  <a:close/>
                </a:path>
              </a:pathLst>
            </a:custGeom>
            <a:solidFill>
              <a:srgbClr val="A8B8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71935" cy="1063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485498" y="4723684"/>
            <a:ext cx="4760756" cy="335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2"/>
              </a:lnSpc>
            </a:pPr>
            <a:r>
              <a:rPr lang="en-US" sz="3416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Esta debe de poder adaptarse a tanto a navegadores de ordenadores como de móviles para que el diseño sea responsive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1746" y="4723684"/>
            <a:ext cx="4760756" cy="335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2"/>
              </a:lnSpc>
            </a:pPr>
            <a:r>
              <a:rPr lang="en-US" sz="3416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Es importante el uso de una tipografía y una fuente clara y concisa que permita a todos los diferentes usuarios entenderla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2428911" y="9201150"/>
            <a:ext cx="13453641" cy="0"/>
          </a:xfrm>
          <a:prstGeom prst="line">
            <a:avLst/>
          </a:prstGeom>
          <a:ln cap="rnd" w="76200">
            <a:solidFill>
              <a:srgbClr val="8380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341805" y="3293752"/>
            <a:ext cx="6160639" cy="95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5"/>
              </a:lnSpc>
            </a:pPr>
            <a:r>
              <a:rPr lang="en-US" b="true" sz="5611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Tipografía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54676" y="2275137"/>
            <a:ext cx="2178649" cy="21786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28911" y="4641032"/>
            <a:ext cx="13430179" cy="388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18"/>
              </a:lnSpc>
              <a:spcBef>
                <a:spcPct val="0"/>
              </a:spcBef>
            </a:pPr>
            <a:r>
              <a:rPr lang="en-US" b="true" sz="11156" spc="635">
                <a:solidFill>
                  <a:srgbClr val="FFFFFF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VENTAJAS DE AL USABILIDAD 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8876" y="2435845"/>
            <a:ext cx="2631198" cy="170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  <a:spcBef>
                <a:spcPct val="0"/>
              </a:spcBef>
            </a:pPr>
            <a:r>
              <a:rPr lang="en-US" b="true" sz="9974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927162" y="2008293"/>
            <a:ext cx="5394962" cy="7250007"/>
            <a:chOff x="0" y="0"/>
            <a:chExt cx="3663950" cy="49237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6"/>
              <a:stretch>
                <a:fillRect l="-51280" t="0" r="-5128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849B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65715" y="3416679"/>
            <a:ext cx="8861447" cy="477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21" indent="-367460" lvl="1">
              <a:lnSpc>
                <a:spcPts val="4765"/>
              </a:lnSpc>
              <a:buFont typeface="Arial"/>
              <a:buChar char="•"/>
            </a:pPr>
            <a:r>
              <a:rPr lang="en-US" sz="34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Mejora la experiencia del usuario</a:t>
            </a:r>
          </a:p>
          <a:p>
            <a:pPr algn="l" marL="734921" indent="-367460" lvl="1">
              <a:lnSpc>
                <a:spcPts val="4765"/>
              </a:lnSpc>
              <a:buFont typeface="Arial"/>
              <a:buChar char="•"/>
            </a:pPr>
            <a:r>
              <a:rPr lang="en-US" sz="34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Reduce el abandono de la página</a:t>
            </a:r>
          </a:p>
          <a:p>
            <a:pPr algn="l" marL="734921" indent="-367460" lvl="1">
              <a:lnSpc>
                <a:spcPts val="4765"/>
              </a:lnSpc>
              <a:buFont typeface="Arial"/>
              <a:buChar char="•"/>
            </a:pPr>
            <a:r>
              <a:rPr lang="en-US" sz="34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Optimiza el tiempo y el esfuerzo del usuario</a:t>
            </a:r>
          </a:p>
          <a:p>
            <a:pPr algn="l" marL="734921" indent="-367460" lvl="1">
              <a:lnSpc>
                <a:spcPts val="4765"/>
              </a:lnSpc>
              <a:buFont typeface="Arial"/>
              <a:buChar char="•"/>
            </a:pPr>
            <a:r>
              <a:rPr lang="en-US" sz="34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Mejor experiencia del usuario</a:t>
            </a:r>
          </a:p>
          <a:p>
            <a:pPr algn="l" marL="734921" indent="-367460" lvl="1">
              <a:lnSpc>
                <a:spcPts val="4765"/>
              </a:lnSpc>
              <a:buFont typeface="Arial"/>
              <a:buChar char="•"/>
            </a:pPr>
            <a:r>
              <a:rPr lang="en-US" sz="34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Aumenta la confianza y la credibilidad</a:t>
            </a:r>
          </a:p>
          <a:p>
            <a:pPr algn="l" marL="734921" indent="-367460" lvl="1">
              <a:lnSpc>
                <a:spcPts val="4765"/>
              </a:lnSpc>
              <a:buFont typeface="Arial"/>
              <a:buChar char="•"/>
            </a:pPr>
            <a:r>
              <a:rPr lang="en-US" sz="34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Favorece la accesibilidad y la inclusión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428911" y="8415370"/>
            <a:ext cx="842930" cy="842930"/>
          </a:xfrm>
          <a:custGeom>
            <a:avLst/>
            <a:gdLst/>
            <a:ahLst/>
            <a:cxnLst/>
            <a:rect r="r" b="b" t="t" l="l"/>
            <a:pathLst>
              <a:path h="842930" w="842930">
                <a:moveTo>
                  <a:pt x="0" y="0"/>
                </a:moveTo>
                <a:lnTo>
                  <a:pt x="842930" y="0"/>
                </a:lnTo>
                <a:lnTo>
                  <a:pt x="842930" y="842930"/>
                </a:lnTo>
                <a:lnTo>
                  <a:pt x="0" y="8429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28911" y="1746916"/>
            <a:ext cx="9704270" cy="149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4"/>
              </a:lnSpc>
            </a:pPr>
            <a:r>
              <a:rPr lang="en-US" sz="8839" b="true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Ventajas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54676" y="2275137"/>
            <a:ext cx="2178649" cy="21786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17770" y="4641032"/>
            <a:ext cx="12252459" cy="388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18"/>
              </a:lnSpc>
              <a:spcBef>
                <a:spcPct val="0"/>
              </a:spcBef>
            </a:pPr>
            <a:r>
              <a:rPr lang="en-US" b="true" sz="11156" spc="635">
                <a:solidFill>
                  <a:srgbClr val="FFFFFF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TIPOS DE DISEÑO 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8876" y="2435845"/>
            <a:ext cx="2631198" cy="170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  <a:spcBef>
                <a:spcPct val="0"/>
              </a:spcBef>
            </a:pPr>
            <a:r>
              <a:rPr lang="en-US" b="true" sz="9974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60254" y="2052308"/>
            <a:ext cx="8115300" cy="6182383"/>
          </a:xfrm>
          <a:custGeom>
            <a:avLst/>
            <a:gdLst/>
            <a:ahLst/>
            <a:cxnLst/>
            <a:rect r="r" b="b" t="t" l="l"/>
            <a:pathLst>
              <a:path h="6182383" w="8115300">
                <a:moveTo>
                  <a:pt x="0" y="0"/>
                </a:moveTo>
                <a:lnTo>
                  <a:pt x="8115300" y="0"/>
                </a:lnTo>
                <a:lnTo>
                  <a:pt x="8115300" y="6182384"/>
                </a:lnTo>
                <a:lnTo>
                  <a:pt x="0" y="6182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78934" y="7419461"/>
            <a:ext cx="710456" cy="710456"/>
          </a:xfrm>
          <a:custGeom>
            <a:avLst/>
            <a:gdLst/>
            <a:ahLst/>
            <a:cxnLst/>
            <a:rect r="r" b="b" t="t" l="l"/>
            <a:pathLst>
              <a:path h="710456" w="710456">
                <a:moveTo>
                  <a:pt x="0" y="0"/>
                </a:moveTo>
                <a:lnTo>
                  <a:pt x="710455" y="0"/>
                </a:lnTo>
                <a:lnTo>
                  <a:pt x="710455" y="710456"/>
                </a:lnTo>
                <a:lnTo>
                  <a:pt x="0" y="710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8159" y="2052308"/>
            <a:ext cx="8115300" cy="6182383"/>
          </a:xfrm>
          <a:custGeom>
            <a:avLst/>
            <a:gdLst/>
            <a:ahLst/>
            <a:cxnLst/>
            <a:rect r="r" b="b" t="t" l="l"/>
            <a:pathLst>
              <a:path h="6182383" w="8115300">
                <a:moveTo>
                  <a:pt x="0" y="0"/>
                </a:moveTo>
                <a:lnTo>
                  <a:pt x="8115300" y="0"/>
                </a:lnTo>
                <a:lnTo>
                  <a:pt x="8115300" y="6182384"/>
                </a:lnTo>
                <a:lnTo>
                  <a:pt x="0" y="6182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4324" y="4895308"/>
            <a:ext cx="6942970" cy="222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sz="32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Ha que tener en cuenta que más del 50% de la población en España tiene algún problema de visión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66839" y="7457561"/>
            <a:ext cx="710456" cy="710456"/>
          </a:xfrm>
          <a:custGeom>
            <a:avLst/>
            <a:gdLst/>
            <a:ahLst/>
            <a:cxnLst/>
            <a:rect r="r" b="b" t="t" l="l"/>
            <a:pathLst>
              <a:path h="710456" w="710456">
                <a:moveTo>
                  <a:pt x="0" y="0"/>
                </a:moveTo>
                <a:lnTo>
                  <a:pt x="710455" y="0"/>
                </a:lnTo>
                <a:lnTo>
                  <a:pt x="710455" y="710456"/>
                </a:lnTo>
                <a:lnTo>
                  <a:pt x="0" y="710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34324" y="3161790"/>
            <a:ext cx="5652045" cy="17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5"/>
              </a:lnSpc>
            </a:pPr>
            <a:r>
              <a:rPr lang="en-US" sz="6557" b="true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Diseño adaptativo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6419" y="3161790"/>
            <a:ext cx="5652045" cy="17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5"/>
              </a:lnSpc>
            </a:pPr>
            <a:r>
              <a:rPr lang="en-US" sz="6557" b="true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Diseño responsivo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6419" y="4901588"/>
            <a:ext cx="6942970" cy="215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3103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Es importante pensar que nuestra página se ve de diferente forma ya se este visualizando en el móvil o en un monitor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54676" y="2275137"/>
            <a:ext cx="2178649" cy="21786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17770" y="4641032"/>
            <a:ext cx="12252459" cy="388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18"/>
              </a:lnSpc>
              <a:spcBef>
                <a:spcPct val="0"/>
              </a:spcBef>
            </a:pPr>
            <a:r>
              <a:rPr lang="en-US" b="true" sz="11156" spc="635">
                <a:solidFill>
                  <a:srgbClr val="FFFFFF"/>
                </a:solidFill>
                <a:latin typeface="Prompt Heavy"/>
                <a:ea typeface="Prompt Heavy"/>
                <a:cs typeface="Prompt Heavy"/>
                <a:sym typeface="Prompt Heavy"/>
              </a:rPr>
              <a:t>ARQUITECTURA 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8876" y="2435845"/>
            <a:ext cx="2631198" cy="170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  <a:spcBef>
                <a:spcPct val="0"/>
              </a:spcBef>
            </a:pPr>
            <a:r>
              <a:rPr lang="en-US" b="true" sz="9974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39537" y="4076483"/>
            <a:ext cx="12028749" cy="207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2">
                <a:solidFill>
                  <a:srgbClr val="000000"/>
                </a:solidFill>
                <a:latin typeface="Prompt Light"/>
                <a:ea typeface="Prompt Light"/>
                <a:cs typeface="Prompt Light"/>
                <a:sym typeface="Prompt Light"/>
              </a:rPr>
              <a:t>La forma en la que construimos nuestra aplicación es importante ya que una arquitectura bien planteada ayuda al usuario a orientarse, encontrar información rápidamente y entender la relación entre las distintas secciones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453911" y="7039008"/>
            <a:ext cx="5449155" cy="2219292"/>
          </a:xfrm>
          <a:custGeom>
            <a:avLst/>
            <a:gdLst/>
            <a:ahLst/>
            <a:cxnLst/>
            <a:rect r="r" b="b" t="t" l="l"/>
            <a:pathLst>
              <a:path h="2219292" w="5449155">
                <a:moveTo>
                  <a:pt x="0" y="0"/>
                </a:moveTo>
                <a:lnTo>
                  <a:pt x="5449155" y="0"/>
                </a:lnTo>
                <a:lnTo>
                  <a:pt x="5449155" y="2219292"/>
                </a:lnTo>
                <a:lnTo>
                  <a:pt x="0" y="2219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90848" y="2259760"/>
            <a:ext cx="5724220" cy="149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74"/>
              </a:lnSpc>
            </a:pPr>
            <a:r>
              <a:rPr lang="en-US" b="true" sz="8839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¿Qué es?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62339" y="6574764"/>
            <a:ext cx="1321033" cy="3131758"/>
          </a:xfrm>
          <a:custGeom>
            <a:avLst/>
            <a:gdLst/>
            <a:ahLst/>
            <a:cxnLst/>
            <a:rect r="r" b="b" t="t" l="l"/>
            <a:pathLst>
              <a:path h="3131758" w="1321033">
                <a:moveTo>
                  <a:pt x="0" y="0"/>
                </a:moveTo>
                <a:lnTo>
                  <a:pt x="1321032" y="0"/>
                </a:lnTo>
                <a:lnTo>
                  <a:pt x="1321032" y="3131759"/>
                </a:lnTo>
                <a:lnTo>
                  <a:pt x="0" y="31317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74219" y="2260026"/>
            <a:ext cx="13266406" cy="259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8839" b="true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Experiencia de usuario</a:t>
            </a:r>
          </a:p>
          <a:p>
            <a:pPr algn="l">
              <a:lnSpc>
                <a:spcPts val="102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474219" y="4259426"/>
            <a:ext cx="13148636" cy="297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5"/>
              </a:lnSpc>
            </a:pPr>
            <a:r>
              <a:rPr lang="en-US" sz="340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Hay que entender que la experiencia del usuario es diferente a la usabilidad ya que este incluye la percepción global que tiene alguien al interactuar con un producto digital, mientras que la usabilidad se centra en aspectos prácticos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9021" y="-4969521"/>
            <a:ext cx="19843958" cy="19843958"/>
          </a:xfrm>
          <a:custGeom>
            <a:avLst/>
            <a:gdLst/>
            <a:ahLst/>
            <a:cxnLst/>
            <a:rect r="r" b="b" t="t" l="l"/>
            <a:pathLst>
              <a:path h="19843958" w="19843958">
                <a:moveTo>
                  <a:pt x="0" y="0"/>
                </a:moveTo>
                <a:lnTo>
                  <a:pt x="19843958" y="0"/>
                </a:lnTo>
                <a:lnTo>
                  <a:pt x="19843958" y="19843958"/>
                </a:lnTo>
                <a:lnTo>
                  <a:pt x="0" y="1984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99" y="299389"/>
            <a:ext cx="15014002" cy="9688222"/>
          </a:xfrm>
          <a:custGeom>
            <a:avLst/>
            <a:gdLst/>
            <a:ahLst/>
            <a:cxnLst/>
            <a:rect r="r" b="b" t="t" l="l"/>
            <a:pathLst>
              <a:path h="9688222" w="15014002">
                <a:moveTo>
                  <a:pt x="0" y="0"/>
                </a:moveTo>
                <a:lnTo>
                  <a:pt x="15014002" y="0"/>
                </a:lnTo>
                <a:lnTo>
                  <a:pt x="15014002" y="9688222"/>
                </a:lnTo>
                <a:lnTo>
                  <a:pt x="0" y="968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18809" y="3160765"/>
            <a:ext cx="13450382" cy="42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85"/>
              </a:lnSpc>
            </a:pPr>
            <a:r>
              <a:rPr lang="en-US" b="true" sz="15605">
                <a:solidFill>
                  <a:srgbClr val="395BDB"/>
                </a:solidFill>
                <a:latin typeface="Prompt Ultra-Bold"/>
                <a:ea typeface="Prompt Ultra-Bold"/>
                <a:cs typeface="Prompt Ultra-Bold"/>
                <a:sym typeface="Prompt Ultra-Bold"/>
              </a:rPr>
              <a:t>¡Muchas gracias!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052661" y="8002067"/>
            <a:ext cx="1115641" cy="1115641"/>
          </a:xfrm>
          <a:custGeom>
            <a:avLst/>
            <a:gdLst/>
            <a:ahLst/>
            <a:cxnLst/>
            <a:rect r="r" b="b" t="t" l="l"/>
            <a:pathLst>
              <a:path h="1115641" w="1115641">
                <a:moveTo>
                  <a:pt x="0" y="0"/>
                </a:moveTo>
                <a:lnTo>
                  <a:pt x="1115641" y="0"/>
                </a:lnTo>
                <a:lnTo>
                  <a:pt x="1115641" y="1115641"/>
                </a:lnTo>
                <a:lnTo>
                  <a:pt x="0" y="1115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DAG-3yP5Rk8</dc:identifier>
  <dcterms:modified xsi:type="dcterms:W3CDTF">2011-08-01T06:04:30Z</dcterms:modified>
  <cp:revision>1</cp:revision>
  <dc:title>Presentacion diseño web moderno azul amarillo blanco</dc:title>
</cp:coreProperties>
</file>